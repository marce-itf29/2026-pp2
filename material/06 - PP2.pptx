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f4079658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f4079658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f4079658f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f4079658f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6abda7d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46abda7d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abda7db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46abda7db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6abda7db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6abda7db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03fb24065dd42b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03fb24065dd42b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f4f065b3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f4f065b3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rgbClr val="CFE2F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es.wikipedia.org/wiki/Scrum_(desarrollo_de_softwar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trello.com/" TargetMode="External"/><Relationship Id="rId4" Type="http://schemas.openxmlformats.org/officeDocument/2006/relationships/hyperlink" Target="https://www.atlassian.com/es/software/jira?&amp;aceid=&amp;adposition=&amp;adgroup=143040531725&amp;campaign=19324540226&amp;creative=642190148813&amp;device=c&amp;keyword=jira%20software&amp;matchtype=e&amp;network=g&amp;placement=&amp;ds_kids=p74609443757&amp;ds_e=GOOGLE&amp;ds_eid=700000001558501&amp;ds_e1=GOOGLE&amp;gad_source=1&amp;gclid=CjwKCAjw5v2wBhBrEiwAXDDoJbzUzVwBGVOCtRJtvfmyzHAaYlHE4MMVcnWyn8pXYHL3eRfzux85XhoCCKQQAvD_BwE&amp;gclsrc=aw.ds" TargetMode="External"/><Relationship Id="rId5" Type="http://schemas.openxmlformats.org/officeDocument/2006/relationships/hyperlink" Target="https://www.confluence.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78875" y="2029475"/>
            <a:ext cx="8183700" cy="147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s" sz="3280"/>
              <a:t>“Desarrollo de Sistemas de Información orientados a la gestión y apoyo a las decisiones”</a:t>
            </a:r>
            <a:endParaRPr sz="3280"/>
          </a:p>
          <a:p>
            <a:pPr indent="0" lvl="0" marL="0" rtl="0" algn="l">
              <a:spcBef>
                <a:spcPts val="0"/>
              </a:spcBef>
              <a:spcAft>
                <a:spcPts val="0"/>
              </a:spcAft>
              <a:buSzPts val="990"/>
              <a:buNone/>
            </a:pPr>
            <a:r>
              <a:t/>
            </a:r>
            <a:endParaRPr sz="3280"/>
          </a:p>
          <a:p>
            <a:pPr indent="0" lvl="0" marL="0" rtl="0" algn="l">
              <a:spcBef>
                <a:spcPts val="0"/>
              </a:spcBef>
              <a:spcAft>
                <a:spcPts val="0"/>
              </a:spcAft>
              <a:buSzPts val="990"/>
              <a:buNone/>
            </a:pPr>
            <a:r>
              <a:rPr lang="es" sz="3280"/>
              <a:t>Prácticas Profesionalizantes II</a:t>
            </a:r>
            <a:endParaRPr sz="3280"/>
          </a:p>
        </p:txBody>
      </p:sp>
      <p:sp>
        <p:nvSpPr>
          <p:cNvPr id="59" name="Google Shape;59;p13"/>
          <p:cNvSpPr txBox="1"/>
          <p:nvPr>
            <p:ph idx="1" type="subTitle"/>
          </p:nvPr>
        </p:nvSpPr>
        <p:spPr>
          <a:xfrm>
            <a:off x="480150" y="4002300"/>
            <a:ext cx="8183700" cy="86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Prof.: Silvia Cañizares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558125" y="242550"/>
            <a:ext cx="7505700" cy="629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Metodología de trabajo</a:t>
            </a:r>
            <a:endParaRPr/>
          </a:p>
        </p:txBody>
      </p:sp>
      <p:sp>
        <p:nvSpPr>
          <p:cNvPr id="65" name="Google Shape;65;p14"/>
          <p:cNvSpPr txBox="1"/>
          <p:nvPr>
            <p:ph idx="1" type="body"/>
          </p:nvPr>
        </p:nvSpPr>
        <p:spPr>
          <a:xfrm>
            <a:off x="518050" y="948950"/>
            <a:ext cx="8018400" cy="3621000"/>
          </a:xfrm>
          <a:prstGeom prst="rect">
            <a:avLst/>
          </a:prstGeom>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None/>
            </a:pPr>
            <a:r>
              <a:rPr b="1" lang="es" sz="1600" u="sng"/>
              <a:t>Clase semanal </a:t>
            </a:r>
            <a:endParaRPr b="1" sz="1600" u="sng"/>
          </a:p>
          <a:p>
            <a:pPr indent="0" lvl="0" marL="457200" marR="0" rtl="0" algn="l">
              <a:lnSpc>
                <a:spcPct val="115000"/>
              </a:lnSpc>
              <a:spcBef>
                <a:spcPts val="0"/>
              </a:spcBef>
              <a:spcAft>
                <a:spcPts val="0"/>
              </a:spcAft>
              <a:buNone/>
            </a:pPr>
            <a:r>
              <a:t/>
            </a:r>
            <a:endParaRPr b="1" sz="1600" u="sng"/>
          </a:p>
          <a:p>
            <a:pPr indent="-330200" lvl="0" marL="457200" rtl="0" algn="l">
              <a:lnSpc>
                <a:spcPct val="115000"/>
              </a:lnSpc>
              <a:spcBef>
                <a:spcPts val="0"/>
              </a:spcBef>
              <a:spcAft>
                <a:spcPts val="0"/>
              </a:spcAft>
              <a:buSzPts val="1600"/>
              <a:buChar char="★"/>
            </a:pPr>
            <a:r>
              <a:rPr lang="es" sz="1600"/>
              <a:t>Espacio de seguimiento y mentoría.</a:t>
            </a:r>
            <a:endParaRPr sz="1600"/>
          </a:p>
          <a:p>
            <a:pPr indent="0" lvl="0" marL="457200" rtl="0" algn="l">
              <a:lnSpc>
                <a:spcPct val="115000"/>
              </a:lnSpc>
              <a:spcBef>
                <a:spcPts val="0"/>
              </a:spcBef>
              <a:spcAft>
                <a:spcPts val="0"/>
              </a:spcAft>
              <a:buNone/>
            </a:pPr>
            <a:r>
              <a:t/>
            </a:r>
            <a:endParaRPr sz="1600"/>
          </a:p>
          <a:p>
            <a:pPr indent="0" lvl="0" marL="457200" rtl="0" algn="l">
              <a:lnSpc>
                <a:spcPct val="115000"/>
              </a:lnSpc>
              <a:spcBef>
                <a:spcPts val="0"/>
              </a:spcBef>
              <a:spcAft>
                <a:spcPts val="0"/>
              </a:spcAft>
              <a:buNone/>
            </a:pPr>
            <a:r>
              <a:rPr b="1" lang="es" sz="1600" u="sng"/>
              <a:t>Sección de Noticias de cursada</a:t>
            </a:r>
            <a:endParaRPr b="1" sz="1600" u="sng"/>
          </a:p>
          <a:p>
            <a:pPr indent="0" lvl="0" marL="457200" rtl="0" algn="l">
              <a:lnSpc>
                <a:spcPct val="115000"/>
              </a:lnSpc>
              <a:spcBef>
                <a:spcPts val="0"/>
              </a:spcBef>
              <a:spcAft>
                <a:spcPts val="0"/>
              </a:spcAft>
              <a:buNone/>
            </a:pPr>
            <a:r>
              <a:t/>
            </a:r>
            <a:endParaRPr b="1" sz="1600" u="sng"/>
          </a:p>
          <a:p>
            <a:pPr indent="-330200" lvl="0" marL="457200" rtl="0" algn="l">
              <a:lnSpc>
                <a:spcPct val="115000"/>
              </a:lnSpc>
              <a:spcBef>
                <a:spcPts val="0"/>
              </a:spcBef>
              <a:spcAft>
                <a:spcPts val="0"/>
              </a:spcAft>
              <a:buSzPts val="1600"/>
              <a:buChar char="★"/>
            </a:pPr>
            <a:r>
              <a:rPr lang="es" sz="1600"/>
              <a:t>Vía de comunicación para informarles cualquier novedad o modificación en la materia.</a:t>
            </a:r>
            <a:endParaRPr sz="1600"/>
          </a:p>
          <a:p>
            <a:pPr indent="0" lvl="0" marL="457200" rtl="0" algn="l">
              <a:lnSpc>
                <a:spcPct val="115000"/>
              </a:lnSpc>
              <a:spcBef>
                <a:spcPts val="0"/>
              </a:spcBef>
              <a:spcAft>
                <a:spcPts val="0"/>
              </a:spcAft>
              <a:buNone/>
            </a:pPr>
            <a:r>
              <a:t/>
            </a:r>
            <a:endParaRPr sz="1600"/>
          </a:p>
          <a:p>
            <a:pPr indent="0" lvl="0" marL="457200" rtl="0" algn="l">
              <a:lnSpc>
                <a:spcPct val="115000"/>
              </a:lnSpc>
              <a:spcBef>
                <a:spcPts val="0"/>
              </a:spcBef>
              <a:spcAft>
                <a:spcPts val="0"/>
              </a:spcAft>
              <a:buNone/>
            </a:pPr>
            <a:r>
              <a:rPr b="1" lang="es" sz="1600" u="sng"/>
              <a:t>Foro de consultas y orientaciones</a:t>
            </a:r>
            <a:endParaRPr b="1" sz="1600" u="sng"/>
          </a:p>
          <a:p>
            <a:pPr indent="0" lvl="0" marL="457200" rtl="0" algn="l">
              <a:lnSpc>
                <a:spcPct val="115000"/>
              </a:lnSpc>
              <a:spcBef>
                <a:spcPts val="0"/>
              </a:spcBef>
              <a:spcAft>
                <a:spcPts val="0"/>
              </a:spcAft>
              <a:buNone/>
            </a:pPr>
            <a:r>
              <a:t/>
            </a:r>
            <a:endParaRPr b="1" sz="1600" u="sng"/>
          </a:p>
          <a:p>
            <a:pPr indent="-330200" lvl="0" marL="457200" rtl="0" algn="l">
              <a:lnSpc>
                <a:spcPct val="115000"/>
              </a:lnSpc>
              <a:spcBef>
                <a:spcPts val="0"/>
              </a:spcBef>
              <a:spcAft>
                <a:spcPts val="0"/>
              </a:spcAft>
              <a:buSzPts val="1600"/>
              <a:buChar char="★"/>
            </a:pPr>
            <a:r>
              <a:rPr lang="es" sz="1600"/>
              <a:t>Allí podrán realizar comentarios y publicar sus dudas referidas al contenido de la cursada.</a:t>
            </a:r>
            <a:endParaRPr sz="1600"/>
          </a:p>
          <a:p>
            <a:pPr indent="-330200" lvl="0" marL="457200" rtl="0" algn="l">
              <a:lnSpc>
                <a:spcPct val="115000"/>
              </a:lnSpc>
              <a:spcBef>
                <a:spcPts val="0"/>
              </a:spcBef>
              <a:spcAft>
                <a:spcPts val="0"/>
              </a:spcAft>
              <a:buSzPts val="1600"/>
              <a:buChar char="★"/>
            </a:pPr>
            <a:r>
              <a:rPr lang="es" sz="1600"/>
              <a:t>Considerarlo un espacio de intercambio y aprendizaje colaborativo.</a:t>
            </a:r>
            <a:endParaRPr b="1"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598675" y="221750"/>
            <a:ext cx="7505700" cy="7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Consideraciones importantes</a:t>
            </a:r>
            <a:endParaRPr/>
          </a:p>
        </p:txBody>
      </p:sp>
      <p:sp>
        <p:nvSpPr>
          <p:cNvPr id="71" name="Google Shape;71;p15"/>
          <p:cNvSpPr txBox="1"/>
          <p:nvPr>
            <p:ph idx="1" type="body"/>
          </p:nvPr>
        </p:nvSpPr>
        <p:spPr>
          <a:xfrm>
            <a:off x="491275" y="977450"/>
            <a:ext cx="8018400" cy="40410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b="1" lang="es" sz="1600" u="sng"/>
              <a:t>Proyecto Integrador</a:t>
            </a:r>
            <a:endParaRPr b="1" sz="1600" u="sng"/>
          </a:p>
          <a:p>
            <a:pPr indent="0" lvl="0" marL="457200" rtl="0" algn="l">
              <a:lnSpc>
                <a:spcPct val="115000"/>
              </a:lnSpc>
              <a:spcBef>
                <a:spcPts val="0"/>
              </a:spcBef>
              <a:spcAft>
                <a:spcPts val="0"/>
              </a:spcAft>
              <a:buNone/>
            </a:pPr>
            <a:r>
              <a:t/>
            </a:r>
            <a:endParaRPr b="1" sz="1600" u="sng"/>
          </a:p>
          <a:p>
            <a:pPr indent="-330200" lvl="0" marL="457200" rtl="0" algn="l">
              <a:lnSpc>
                <a:spcPct val="115000"/>
              </a:lnSpc>
              <a:spcBef>
                <a:spcPts val="0"/>
              </a:spcBef>
              <a:spcAft>
                <a:spcPts val="0"/>
              </a:spcAft>
              <a:buSzPts val="1600"/>
              <a:buChar char="★"/>
            </a:pPr>
            <a:r>
              <a:rPr lang="es" sz="1600"/>
              <a:t>Con entrega parcial y calificable en Semana 7 y una final en Semana 13.</a:t>
            </a:r>
            <a:endParaRPr sz="1600"/>
          </a:p>
          <a:p>
            <a:pPr indent="-330200" lvl="0" marL="457200" rtl="0" algn="l">
              <a:lnSpc>
                <a:spcPct val="115000"/>
              </a:lnSpc>
              <a:spcBef>
                <a:spcPts val="0"/>
              </a:spcBef>
              <a:spcAft>
                <a:spcPts val="0"/>
              </a:spcAft>
              <a:buSzPts val="1600"/>
              <a:buChar char="★"/>
            </a:pPr>
            <a:r>
              <a:rPr lang="es" sz="1600"/>
              <a:t>Se considera como nota de cierre de la materia.</a:t>
            </a:r>
            <a:endParaRPr sz="1600"/>
          </a:p>
          <a:p>
            <a:pPr indent="0" lvl="0" marL="457200" rtl="0" algn="l">
              <a:spcBef>
                <a:spcPts val="0"/>
              </a:spcBef>
              <a:spcAft>
                <a:spcPts val="0"/>
              </a:spcAft>
              <a:buNone/>
            </a:pPr>
            <a:r>
              <a:t/>
            </a:r>
            <a:endParaRPr sz="1600" u="sng"/>
          </a:p>
          <a:p>
            <a:pPr indent="0" lvl="0" marL="457200" rtl="0" algn="l">
              <a:spcBef>
                <a:spcPts val="0"/>
              </a:spcBef>
              <a:spcAft>
                <a:spcPts val="0"/>
              </a:spcAft>
              <a:buNone/>
            </a:pPr>
            <a:r>
              <a:rPr b="1" lang="es" sz="1600" u="sng"/>
              <a:t>Foros y prácticas formativas</a:t>
            </a:r>
            <a:endParaRPr b="1" sz="1600" u="sng"/>
          </a:p>
          <a:p>
            <a:pPr indent="0" lvl="0" marL="457200" rtl="0" algn="l">
              <a:spcBef>
                <a:spcPts val="0"/>
              </a:spcBef>
              <a:spcAft>
                <a:spcPts val="0"/>
              </a:spcAft>
              <a:buNone/>
            </a:pPr>
            <a:r>
              <a:t/>
            </a:r>
            <a:endParaRPr b="1" sz="1600" u="sng"/>
          </a:p>
          <a:p>
            <a:pPr indent="-330200" lvl="0" marL="457200" rtl="0" algn="l">
              <a:spcBef>
                <a:spcPts val="0"/>
              </a:spcBef>
              <a:spcAft>
                <a:spcPts val="0"/>
              </a:spcAft>
              <a:buSzPts val="1600"/>
              <a:buChar char="★"/>
            </a:pPr>
            <a:r>
              <a:rPr lang="es" sz="1600"/>
              <a:t>No son obligatorios ni entregables para corrección.</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b="1" lang="es" sz="1600"/>
              <a:t>Los trabajos deben ser grupales, de hasta 5 integrantes.</a:t>
            </a:r>
            <a:endParaRPr b="1" sz="1600"/>
          </a:p>
          <a:p>
            <a:pPr indent="-330200" lvl="0" marL="457200" rtl="0" algn="l">
              <a:spcBef>
                <a:spcPts val="0"/>
              </a:spcBef>
              <a:spcAft>
                <a:spcPts val="0"/>
              </a:spcAft>
              <a:buSzPts val="1600"/>
              <a:buChar char="★"/>
            </a:pPr>
            <a:r>
              <a:rPr b="1" lang="es" sz="1600"/>
              <a:t>Es fundamental que lleven la materia al día para llegar con las entregas y los tiempos pautados correctamente.</a:t>
            </a:r>
            <a:endParaRPr b="1" sz="1600"/>
          </a:p>
          <a:p>
            <a:pPr indent="0" lvl="0" marL="457200" rtl="0" algn="l">
              <a:lnSpc>
                <a:spcPct val="115000"/>
              </a:lnSpc>
              <a:spcBef>
                <a:spcPts val="0"/>
              </a:spcBef>
              <a:spcAft>
                <a:spcPts val="0"/>
              </a:spcAft>
              <a:buNone/>
            </a:pPr>
            <a:r>
              <a:t/>
            </a:r>
            <a:endParaRPr b="1"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Presentación de la materia, a tener en cuenta:</a:t>
            </a:r>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400"/>
              <a:t>Esta asignatura es de índole práctica, simulando una situación del mundo laboral de un desarrollador de software, considerando un Sistema para la resolución de conflictos.</a:t>
            </a:r>
            <a:endParaRPr sz="1400"/>
          </a:p>
          <a:p>
            <a:pPr indent="0" lvl="0" marL="0" rtl="0" algn="just">
              <a:spcBef>
                <a:spcPts val="1200"/>
              </a:spcBef>
              <a:spcAft>
                <a:spcPts val="0"/>
              </a:spcAft>
              <a:buNone/>
            </a:pPr>
            <a:r>
              <a:rPr lang="es" sz="1400"/>
              <a:t>Trabajarán en un sistema para una clínica, por la que todos/as hemos pasado en una o varias oportunidades en nuestra vida.</a:t>
            </a:r>
            <a:endParaRPr sz="1400"/>
          </a:p>
          <a:p>
            <a:pPr indent="0" lvl="0" marL="0" rtl="0" algn="just">
              <a:spcBef>
                <a:spcPts val="1200"/>
              </a:spcBef>
              <a:spcAft>
                <a:spcPts val="0"/>
              </a:spcAft>
              <a:buNone/>
            </a:pPr>
            <a:r>
              <a:rPr lang="es" sz="1400"/>
              <a:t>Aplicarán herramientas y metodologías de Análisis de Sistemas (relevamiento, requisitos, informes, etc.), para lograr un Sistema a medida.</a:t>
            </a:r>
            <a:endParaRPr sz="1400"/>
          </a:p>
          <a:p>
            <a:pPr indent="0" lvl="0" marL="0" rtl="0" algn="just">
              <a:spcBef>
                <a:spcPts val="1200"/>
              </a:spcBef>
              <a:spcAft>
                <a:spcPts val="0"/>
              </a:spcAft>
              <a:buNone/>
            </a:pPr>
            <a:r>
              <a:rPr lang="es" sz="1400"/>
              <a:t>Se tomaron dos ejes: “Consultorios externos” y “Estudios médicos”. Debemos tener en cuenta la funcionalidad de cada uno.</a:t>
            </a:r>
            <a:endParaRPr sz="1400"/>
          </a:p>
          <a:p>
            <a:pPr indent="0" lvl="0" marL="0" rtl="0" algn="just">
              <a:spcBef>
                <a:spcPts val="1200"/>
              </a:spcBef>
              <a:spcAft>
                <a:spcPts val="1200"/>
              </a:spcAft>
              <a:buNone/>
            </a:pPr>
            <a:r>
              <a:rPr lang="es" sz="1400"/>
              <a:t>Comenzarán viendo metodologías para la toma de información como entrevistas, cuestionarios, observaciones directas (ir como paciente y tomar nota), etc. Ese análisis será convertido a líneas de código. Toda la información que puedan recopilar desde la experiencia pero también de forma empírica (investigar, googlear, etc.) les será útil para comprender mejor los alcances del Sistema.</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Presentación de la materia, a tener en cuenta:</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400"/>
              <a:t>Es importante que puedan conformar equipos de trabajo con diferentes habilidades, ya que deberán simular el Sistema integralmente. Considerar quién podría codificar, maquetar, manejar los datos, redactar correctamente documentación y también otra persona que tenga mayores habilidades interpersonales para realizar entrevistas, encuentros.  </a:t>
            </a:r>
            <a:endParaRPr sz="1400"/>
          </a:p>
          <a:p>
            <a:pPr indent="0" lvl="0" marL="0" rtl="0" algn="just">
              <a:spcBef>
                <a:spcPts val="1200"/>
              </a:spcBef>
              <a:spcAft>
                <a:spcPts val="0"/>
              </a:spcAft>
              <a:buNone/>
            </a:pPr>
            <a:r>
              <a:rPr lang="es" sz="1400"/>
              <a:t>Se trabajará en 4 etapas: “Preliminar”, “Análisis”, “Simulación” e “Implementación”.</a:t>
            </a:r>
            <a:endParaRPr sz="1400"/>
          </a:p>
          <a:p>
            <a:pPr indent="0" lvl="0" marL="0" rtl="0" algn="just">
              <a:spcBef>
                <a:spcPts val="1200"/>
              </a:spcBef>
              <a:spcAft>
                <a:spcPts val="0"/>
              </a:spcAft>
              <a:buNone/>
            </a:pPr>
            <a:r>
              <a:rPr lang="es" sz="1400"/>
              <a:t>Van a encontrarse con una “Oficina de trabajo” con diferentes “Desafíos” en base al rol que cumpla cada integrante del equipo.</a:t>
            </a:r>
            <a:endParaRPr sz="1400"/>
          </a:p>
          <a:p>
            <a:pPr indent="0" lvl="0" marL="0" rtl="0" algn="just">
              <a:spcBef>
                <a:spcPts val="1200"/>
              </a:spcBef>
              <a:spcAft>
                <a:spcPts val="0"/>
              </a:spcAft>
              <a:buNone/>
            </a:pPr>
            <a:r>
              <a:rPr lang="es" sz="1400"/>
              <a:t>Se va a trabajar con </a:t>
            </a:r>
            <a:r>
              <a:rPr lang="es" sz="1400" u="sng">
                <a:solidFill>
                  <a:schemeClr val="hlink"/>
                </a:solidFill>
                <a:hlinkClick r:id="rId3"/>
              </a:rPr>
              <a:t>Scrum</a:t>
            </a:r>
            <a:r>
              <a:rPr lang="es" sz="1400"/>
              <a:t> como marco de trabajo para desarrollo ágil del software.</a:t>
            </a:r>
            <a:endParaRPr sz="1400"/>
          </a:p>
          <a:p>
            <a:pPr indent="0" lvl="0" marL="0" rtl="0" algn="just">
              <a:spcBef>
                <a:spcPts val="1200"/>
              </a:spcBef>
              <a:spcAft>
                <a:spcPts val="1200"/>
              </a:spcAft>
              <a:buNone/>
            </a:pPr>
            <a:r>
              <a:rPr lang="es" sz="1400"/>
              <a:t>Retomarán conceptos como “Casos de uso”, “Modelo de entidad de relación”, para incorporar otros y lograr tomar decisiones acordes a las necesidades del cliente.</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 tener en cuenta</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 sz="1400"/>
              <a:t>Recuerden confeccionar los grupos en la planilla, así puedo armar las oficinas de trabajo lo antes posible.</a:t>
            </a:r>
            <a:endParaRPr sz="1400"/>
          </a:p>
          <a:p>
            <a:pPr indent="0" lvl="0" marL="0" rtl="0" algn="just">
              <a:spcBef>
                <a:spcPts val="1200"/>
              </a:spcBef>
              <a:spcAft>
                <a:spcPts val="0"/>
              </a:spcAft>
              <a:buNone/>
            </a:pPr>
            <a:r>
              <a:rPr lang="es" sz="1400"/>
              <a:t>Tengan en cuenta el </a:t>
            </a:r>
            <a:r>
              <a:rPr b="1" lang="es" sz="1400"/>
              <a:t>“Cronograma Extendido”</a:t>
            </a:r>
            <a:r>
              <a:rPr lang="es" sz="1400"/>
              <a:t>, ya que hubo fechas que tuvimos que adelantar para darles más tiempo en la simulación del Sistema y llegar mejor con las entregas finales.</a:t>
            </a:r>
            <a:endParaRPr sz="1400"/>
          </a:p>
          <a:p>
            <a:pPr indent="0" lvl="0" marL="0" rtl="0" algn="just">
              <a:spcBef>
                <a:spcPts val="1200"/>
              </a:spcBef>
              <a:spcAft>
                <a:spcPts val="0"/>
              </a:spcAft>
              <a:buNone/>
            </a:pPr>
            <a:r>
              <a:rPr lang="es" sz="1400"/>
              <a:t>En las Oficinas de trabajo podrán intercambiar ideas dentro del equipo. La información será visible para el grupo y para mi como docente.</a:t>
            </a:r>
            <a:endParaRPr sz="1400"/>
          </a:p>
          <a:p>
            <a:pPr indent="0" lvl="0" marL="0" rtl="0" algn="just">
              <a:spcBef>
                <a:spcPts val="1200"/>
              </a:spcBef>
              <a:spcAft>
                <a:spcPts val="0"/>
              </a:spcAft>
              <a:buNone/>
            </a:pPr>
            <a:r>
              <a:rPr lang="es" sz="1400"/>
              <a:t>Es importante que puedan dejar el link de acceso a cada documento compartido que realicen, dándome permisos de edición (silvia.canizares@bue.edu.ar) que me faciliten la supervisión del trabajo grupal. Recuerden que, para que puedan visualizarse los cambios que realiza cada integrante, deben compartir el archivo con los mails que utilizan.</a:t>
            </a:r>
            <a:endParaRPr sz="1400"/>
          </a:p>
          <a:p>
            <a:pPr indent="0" lvl="0" marL="0" rtl="0" algn="just">
              <a:spcBef>
                <a:spcPts val="1200"/>
              </a:spcBef>
              <a:spcAft>
                <a:spcPts val="0"/>
              </a:spcAft>
              <a:buClr>
                <a:schemeClr val="dk2"/>
              </a:buClr>
              <a:buSzPts val="1100"/>
              <a:buFont typeface="Arial"/>
              <a:buNone/>
            </a:pPr>
            <a:r>
              <a:t/>
            </a:r>
            <a:endParaRPr b="1" sz="1400"/>
          </a:p>
          <a:p>
            <a:pPr indent="0" lvl="0" marL="0" rtl="0" algn="just">
              <a:spcBef>
                <a:spcPts val="1200"/>
              </a:spcBef>
              <a:spcAft>
                <a:spcPts val="0"/>
              </a:spcAft>
              <a:buNone/>
            </a:pPr>
            <a:r>
              <a:t/>
            </a:r>
            <a:endParaRPr sz="1400"/>
          </a:p>
          <a:p>
            <a:pPr indent="0" lvl="0" marL="0" rtl="0" algn="just">
              <a:spcBef>
                <a:spcPts val="1200"/>
              </a:spcBef>
              <a:spcAft>
                <a:spcPts val="0"/>
              </a:spcAft>
              <a:buNone/>
            </a:pPr>
            <a:r>
              <a:t/>
            </a:r>
            <a:endParaRPr sz="1400"/>
          </a:p>
          <a:p>
            <a:pPr indent="0" lvl="0" marL="0" rtl="0" algn="just">
              <a:spcBef>
                <a:spcPts val="1200"/>
              </a:spcBef>
              <a:spcAft>
                <a:spcPts val="120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SCRUM - KANBAN - CASCADA</a:t>
            </a:r>
            <a:endParaRPr/>
          </a:p>
        </p:txBody>
      </p:sp>
      <p:sp>
        <p:nvSpPr>
          <p:cNvPr id="95" name="Google Shape;95;p19"/>
          <p:cNvSpPr txBox="1"/>
          <p:nvPr>
            <p:ph idx="1" type="body"/>
          </p:nvPr>
        </p:nvSpPr>
        <p:spPr>
          <a:xfrm>
            <a:off x="311700" y="1351966"/>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Para SCRUM y KANBAN es conveniente que utilicen </a:t>
            </a:r>
            <a:r>
              <a:rPr lang="es" u="sng">
                <a:solidFill>
                  <a:schemeClr val="hlink"/>
                </a:solidFill>
                <a:hlinkClick r:id="rId3"/>
              </a:rPr>
              <a:t>Trello</a:t>
            </a:r>
            <a:r>
              <a:rPr lang="es"/>
              <a:t>.</a:t>
            </a:r>
            <a:endParaRPr/>
          </a:p>
          <a:p>
            <a:pPr indent="0" lvl="0" marL="0" rtl="0" algn="l">
              <a:spcBef>
                <a:spcPts val="1200"/>
              </a:spcBef>
              <a:spcAft>
                <a:spcPts val="0"/>
              </a:spcAft>
              <a:buNone/>
            </a:pPr>
            <a:r>
              <a:rPr lang="es"/>
              <a:t>En algunas empresas utilizan las siguientes herramientas pagas:</a:t>
            </a:r>
            <a:endParaRPr/>
          </a:p>
          <a:p>
            <a:pPr indent="0" lvl="0" marL="0" rtl="0" algn="l">
              <a:spcBef>
                <a:spcPts val="1200"/>
              </a:spcBef>
              <a:spcAft>
                <a:spcPts val="0"/>
              </a:spcAft>
              <a:buNone/>
            </a:pPr>
            <a:r>
              <a:rPr lang="es" u="sng">
                <a:solidFill>
                  <a:schemeClr val="hlink"/>
                </a:solidFill>
                <a:hlinkClick r:id="rId4"/>
              </a:rPr>
              <a:t>Jira</a:t>
            </a:r>
            <a:r>
              <a:rPr lang="es"/>
              <a:t>, es un gestor de tareas algo más completo que Trello. Se emplea para colocar los distintos sprints. En cada sprints se ponen las cards con los requerimientos, que pueden ser épicos (los más grandes) o historias de usuario (más chiquitos).</a:t>
            </a:r>
            <a:endParaRPr/>
          </a:p>
          <a:p>
            <a:pPr indent="0" lvl="0" marL="0" rtl="0" algn="l">
              <a:spcBef>
                <a:spcPts val="1200"/>
              </a:spcBef>
              <a:spcAft>
                <a:spcPts val="1200"/>
              </a:spcAft>
              <a:buNone/>
            </a:pPr>
            <a:r>
              <a:rPr lang="es" u="sng">
                <a:solidFill>
                  <a:schemeClr val="hlink"/>
                </a:solidFill>
                <a:hlinkClick r:id="rId5"/>
              </a:rPr>
              <a:t>Confluence</a:t>
            </a:r>
            <a:r>
              <a:rPr lang="es"/>
              <a:t> sirve para documentar todos los procesos, documentación interna y de cara al cliente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222550" y="3616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Actividad de la semana</a:t>
            </a:r>
            <a:endParaRPr/>
          </a:p>
        </p:txBody>
      </p:sp>
      <p:sp>
        <p:nvSpPr>
          <p:cNvPr id="101" name="Google Shape;101;p20"/>
          <p:cNvSpPr txBox="1"/>
          <p:nvPr>
            <p:ph idx="1" type="body"/>
          </p:nvPr>
        </p:nvSpPr>
        <p:spPr>
          <a:xfrm>
            <a:off x="4572000" y="436175"/>
            <a:ext cx="43452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s" sz="1100"/>
              <a:t>Recorran el aula virtual y realicen la actividad planteada (recuerden que no es calificable pero sí les aporta para ir adquiriendo los contenidos).</a:t>
            </a:r>
            <a:endParaRPr sz="1100"/>
          </a:p>
        </p:txBody>
      </p:sp>
      <p:pic>
        <p:nvPicPr>
          <p:cNvPr id="102" name="Google Shape;102;p20"/>
          <p:cNvPicPr preferRelativeResize="0"/>
          <p:nvPr/>
        </p:nvPicPr>
        <p:blipFill rotWithShape="1">
          <a:blip r:embed="rId3">
            <a:alphaModFix/>
          </a:blip>
          <a:srcRect b="9780" l="2909" r="4136" t="31513"/>
          <a:stretch/>
        </p:blipFill>
        <p:spPr>
          <a:xfrm>
            <a:off x="0" y="1482113"/>
            <a:ext cx="9144001" cy="32470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